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217920" y="91440"/>
            <a:ext cx="256032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PHASE 2  ·  FULL BUILD + DEMO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82296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Voting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11480" y="3291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implemented, end-to-end verifiable e-voting system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democracy against quantum-era threats.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4206240"/>
            <a:ext cx="2468880" cy="384048"/>
          </a:xfrm>
          <a:prstGeom prst="rect">
            <a:avLst>
              <a:gd name="adj" fmla="val 11905"/>
            </a:avLst>
          </a:prstGeom>
          <a:solidFill>
            <a:srgbClr val="15215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2062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 &amp; Working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08960" y="4206240"/>
            <a:ext cx="2468880" cy="384048"/>
          </a:xfrm>
          <a:prstGeom prst="rect">
            <a:avLst>
              <a:gd name="adj" fmla="val 11905"/>
            </a:avLst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8960" y="42062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Aadhaar-style IA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06440" y="4206240"/>
            <a:ext cx="2468880" cy="384048"/>
          </a:xfrm>
          <a:prstGeom prst="rect">
            <a:avLst>
              <a:gd name="adj" fmla="val 11905"/>
            </a:avLst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42062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 Ready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working post-quantum voting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651760" cy="1572768"/>
          </a:xfrm>
          <a:prstGeom prst="rect">
            <a:avLst/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46304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Aadhaar-style Identity Authority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11480" y="1920240"/>
            <a:ext cx="239572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India's Aadhaar CA. Issues Dilithium-signed Verifiable Credentials binding voter_id, biometric hash, constituency, and public key into one tamper-proof object.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154680" y="1298448"/>
            <a:ext cx="2651760" cy="1572768"/>
          </a:xfrm>
          <a:prstGeom prst="rect">
            <a:avLst/>
          </a:prstGeom>
          <a:solidFill>
            <a:srgbClr val="15215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4630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21608" y="146304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Authority + Kyber Keypair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291840" y="1920240"/>
            <a:ext cx="239572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ML-KEM (Kyber512) keypair. Publishes the public key. Secret key is locked away until tally time — enforced at the API level.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035040" y="1298448"/>
            <a:ext cx="2651760" cy="1572768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6304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01968" y="146304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Ballot Encryption &amp; Signing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172200" y="1920240"/>
            <a:ext cx="239572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runs KEM encapsulation → gets shared secret → encrypts choice with AES-256-GCM → signs the full payload with their Dilithium key.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274320" y="3035808"/>
            <a:ext cx="2651760" cy="1572768"/>
          </a:xfrm>
          <a:prstGeom prst="rect">
            <a:avLst/>
          </a:prstGeom>
          <a:solidFill>
            <a:srgbClr val="15215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0040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" y="320040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Bulletin Board (SQLite)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11480" y="3657600"/>
            <a:ext cx="239572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 ledger with 4-step verification. Every ballot chained with SHA3-256. No UPDATE or DELETE possible by design.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3154680" y="3035808"/>
            <a:ext cx="2651760" cy="1572768"/>
          </a:xfrm>
          <a:prstGeom prst="rect">
            <a:avLst/>
          </a:prstGeom>
          <a:solidFill>
            <a:srgbClr val="152150"/>
          </a:solidFill>
          <a:ln w="12700">
            <a:solidFill>
              <a:srgbClr val="E8404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20040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21608" y="320040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+ Public Result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3291840" y="3657600"/>
            <a:ext cx="239572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decrypts all KEM ciphertexts → recovers shared secrets → decrypts ballots → counts votes. Anonymised list published publicly.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6035040" y="3035808"/>
            <a:ext cx="2651760" cy="1572768"/>
          </a:xfrm>
          <a:prstGeom prst="rect">
            <a:avLst/>
          </a:prstGeom>
          <a:solidFill>
            <a:srgbClr val="152150"/>
          </a:solidFill>
          <a:ln w="12700">
            <a:solidFill>
              <a:srgbClr val="8FA0C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20040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01968" y="320040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Verification UI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172200" y="3657600"/>
            <a:ext cx="239572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lets voters enter their ballot_id and verify their vote is in the public ledger — without revealing how they voted.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AADHAAR-STYLE IDENTITY AUTHORITY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simulate India's identity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2618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Aadhaar CA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3931920" cy="402336"/>
          </a:xfrm>
          <a:prstGeom prst="rect">
            <a:avLst/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27632"/>
            <a:ext cx="54864" cy="402336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6276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unique 12-digit UID to 1.4B Indians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3931920" cy="402336"/>
          </a:xfrm>
          <a:prstGeom prst="rect">
            <a:avLst/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03120"/>
            <a:ext cx="54864" cy="402336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1031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biometric (fingerprint + iris) to identity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3931920" cy="402336"/>
          </a:xfrm>
          <a:prstGeom prst="rect">
            <a:avLst/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4864" cy="402336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57860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root Certificate Authority for digital India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54096"/>
            <a:ext cx="3931920" cy="402336"/>
          </a:xfrm>
          <a:prstGeom prst="rect">
            <a:avLst/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54096"/>
            <a:ext cx="54864" cy="402336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0540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e-KYC, banking, government services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529584"/>
            <a:ext cx="3931920" cy="402336"/>
          </a:xfrm>
          <a:prstGeom prst="rect">
            <a:avLst/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529584"/>
            <a:ext cx="54864" cy="402336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52958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credentials with its private key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15968" y="2651760"/>
            <a:ext cx="420624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9392" y="2468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2618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Identity Authority (IA)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627632"/>
            <a:ext cx="3931920" cy="402336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627632"/>
            <a:ext cx="54864" cy="40233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16276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voter_id (UUID) — maps to Aadhaar UID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103120"/>
            <a:ext cx="3931920" cy="402336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103120"/>
            <a:ext cx="54864" cy="40233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21031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hash = SHA3-256(name|dob|aadhaar_no)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578608"/>
            <a:ext cx="3931920" cy="402336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578608"/>
            <a:ext cx="54864" cy="40233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257860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root CA — holds Dilithium2 signing key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3054096"/>
            <a:ext cx="3931920" cy="402336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054096"/>
            <a:ext cx="54864" cy="40233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30540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voter registration &amp; credential issuance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529584"/>
            <a:ext cx="3931920" cy="402336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529584"/>
            <a:ext cx="54864" cy="40233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92624" y="352958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VC with Dilithium private key (NIST FIPS 2024)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4160520"/>
            <a:ext cx="8503920" cy="786384"/>
          </a:xfrm>
          <a:prstGeom prst="rect">
            <a:avLst/>
          </a:prstGeom>
          <a:solidFill>
            <a:srgbClr val="0A143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160520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Verifiable Credential structure:  { voter_id, biometric_hash, constituency_id, dilithium_pk, issued_at, expiry, ia_signature }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PROBLEM ADDRESSED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which quantum attacks this system defeats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8503920" cy="786384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98448"/>
            <a:ext cx="64008" cy="78638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1463040"/>
            <a:ext cx="89611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463040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Breaks: RSA-2048 in ~8 hours on a quantum computer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fix: ML-KEM (Kyber512) — based on Module-LWE lattice problem. No quantum algorithm breaks it.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03920" cy="786384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94560"/>
            <a:ext cx="64008" cy="78638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2359152"/>
            <a:ext cx="89611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3591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26771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on ECDSA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52374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Breaks: ECDSA-256 in minutes — used in all current e-voting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72491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fix: ML-DSA (Dilithium2) — lattice-based signatures, standardised NIST FIPS 204 (2024).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090672"/>
            <a:ext cx="8503920" cy="786384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90672"/>
            <a:ext cx="64008" cy="78638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3255264"/>
            <a:ext cx="89611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3255264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16382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Harvest-Now, Decrypt-Later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41985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Breaks: Adversary records encrypted ballots today → decrypts in 2030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62102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fix: Kyber ciphertexts are quantum-safe — no future quantum computer can recover the ballot.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986784"/>
            <a:ext cx="8503920" cy="786384"/>
          </a:xfrm>
          <a:prstGeom prst="rect">
            <a:avLst/>
          </a:prstGeom>
          <a:solidFill>
            <a:srgbClr val="1521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986784"/>
            <a:ext cx="64008" cy="7863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4151376"/>
            <a:ext cx="89611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4151376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05993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Grover's Algorithm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31596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Breaks: Halves effective key length of symmetric crypto (AES-128 → 64-bit security)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51713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fix: We use AES-256-GCM — Grover reduces to 128-bit security. Still computationally infeasible.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cryptography actually works — step by step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43584"/>
            <a:ext cx="8503920" cy="676656"/>
          </a:xfrm>
          <a:prstGeom prst="rect">
            <a:avLst/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43584"/>
            <a:ext cx="347472" cy="676656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43584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 (Setup)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55448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ia_sk, ia_pk = Dilithium2.keypair()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ea_sk, ea_pk = Kyber512.keypair()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voter_sk, voter_pk = Dilithium2.keypair()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8503920" cy="676656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93392"/>
            <a:ext cx="347472" cy="67665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93392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204825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— Aadhaar CA issues VC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230428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biometric = sha3_256(f"{name}|{dob}|{aadhaar}")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 = {voter_id, biometric, constituency, voter_pk}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vc["ia_signature"] = Dilithium2.sign(vc, ia_sk)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8503920" cy="676656"/>
          </a:xfrm>
          <a:prstGeom prst="rect">
            <a:avLst/>
          </a:prstGeom>
          <a:solidFill>
            <a:srgbClr val="1521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43200"/>
            <a:ext cx="347472" cy="6766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743200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279806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— KEM + AES encryption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305409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kem_ct, shared_secret = Kyber512.encap(ea_pk)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nonce = os.urandom(12)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ballot_ct = AESGCM(shared_secret).encrypt(nonce, choice)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493008"/>
            <a:ext cx="8503920" cy="676656"/>
          </a:xfrm>
          <a:prstGeom prst="rect">
            <a:avLst/>
          </a:prstGeom>
          <a:solidFill>
            <a:srgbClr val="15215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493008"/>
            <a:ext cx="347472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93008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" y="354787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&amp; Submission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380390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= {voter_id, kem_ct, nonce, ballot_ct, constituency}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= Dilithium2.sign(payload, voter_sk)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/vote  {payload, sig, vc}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4242816"/>
            <a:ext cx="8503920" cy="676656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242816"/>
            <a:ext cx="347472" cy="67665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242816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" y="429768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4-step verify → chain append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455371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verify(ia_sig, vc, ia_pk)          # IA authentic?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verify(sig, payload, voter_pk)     # Voter authentic?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payload.constituency == vc.constituency  # Right booth?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voter_id not in ledger      # No duplicate?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chain_hash = sha3_256(prev_hash + payload)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— what the judges will see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1298448"/>
            <a:ext cx="1609344" cy="3474720"/>
          </a:xfrm>
          <a:prstGeom prst="rect">
            <a:avLst/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298448"/>
            <a:ext cx="1609344" cy="54864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41732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1168" y="195681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" y="2395728"/>
            <a:ext cx="1389888" cy="27432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487168"/>
            <a:ext cx="142646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Aadhaar details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VC issued instantly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Keys generated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10512" y="2926080"/>
            <a:ext cx="155448" cy="18288"/>
          </a:xfrm>
          <a:prstGeom prst="rect">
            <a:avLst/>
          </a:prstGeom>
          <a:solidFill>
            <a:srgbClr val="8FA0C0"/>
          </a:solidFill>
          <a:ln w="12700">
            <a:solidFill>
              <a:srgbClr val="8FA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3936" y="28163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65960" y="1298448"/>
            <a:ext cx="1609344" cy="3474720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1298448"/>
            <a:ext cx="1609344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141732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965960" y="195681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Ballot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75688" y="2395728"/>
            <a:ext cx="1389888" cy="274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2487168"/>
            <a:ext cx="142646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candidates + election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constituency confirmed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Auth verified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75304" y="2926080"/>
            <a:ext cx="155448" cy="18288"/>
          </a:xfrm>
          <a:prstGeom prst="rect">
            <a:avLst/>
          </a:prstGeom>
          <a:solidFill>
            <a:srgbClr val="8FA0C0"/>
          </a:solidFill>
          <a:ln w="12700">
            <a:solidFill>
              <a:srgbClr val="8FA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8728" y="28163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30752" y="1298448"/>
            <a:ext cx="1609344" cy="3474720"/>
          </a:xfrm>
          <a:prstGeom prst="rect">
            <a:avLst/>
          </a:prstGeom>
          <a:solidFill>
            <a:srgbClr val="1521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30752" y="1298448"/>
            <a:ext cx="160934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141732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730752" y="195681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Vote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0" y="2395728"/>
            <a:ext cx="1389888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2192" y="2487168"/>
            <a:ext cx="142646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candidate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Kyber encrypts choice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Dilithium signs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40096" y="2926080"/>
            <a:ext cx="155448" cy="18288"/>
          </a:xfrm>
          <a:prstGeom prst="rect">
            <a:avLst/>
          </a:prstGeom>
          <a:solidFill>
            <a:srgbClr val="8FA0C0"/>
          </a:solidFill>
          <a:ln w="12700">
            <a:solidFill>
              <a:srgbClr val="8FA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8163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95544" y="1298448"/>
            <a:ext cx="1609344" cy="3474720"/>
          </a:xfrm>
          <a:prstGeom prst="rect">
            <a:avLst/>
          </a:prstGeom>
          <a:solidFill>
            <a:srgbClr val="15215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95544" y="1298448"/>
            <a:ext cx="160934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141732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5495544" y="195681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Board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05272" y="2395728"/>
            <a:ext cx="1389888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86984" y="2487168"/>
            <a:ext cx="142646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check runs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Ballot chained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receipt_id returned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104888" y="2926080"/>
            <a:ext cx="155448" cy="18288"/>
          </a:xfrm>
          <a:prstGeom prst="rect">
            <a:avLst/>
          </a:prstGeom>
          <a:solidFill>
            <a:srgbClr val="8FA0C0"/>
          </a:solidFill>
          <a:ln w="12700">
            <a:solidFill>
              <a:srgbClr val="8FA0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68312" y="28163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260336" y="1298448"/>
            <a:ext cx="1609344" cy="3474720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60336" y="1298448"/>
            <a:ext cx="1609344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0336" y="141732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7260336" y="195681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Receipt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70064" y="2395728"/>
            <a:ext cx="1389888" cy="274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51776" y="2487168"/>
            <a:ext cx="142646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receipt_id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Board confirms inclusion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Zero-knowledge proof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828032"/>
            <a:ext cx="8503920" cy="182880"/>
          </a:xfrm>
          <a:prstGeom prst="rect">
            <a:avLst/>
          </a:prstGeom>
          <a:solidFill>
            <a:srgbClr val="0A1430"/>
          </a:solidFill>
          <a:ln w="12700">
            <a:solidFill>
              <a:srgbClr val="8FA0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828032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runs locally on FastAPI (localhost:8000) — full register → vote → verify loop completed live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actors — one cryptographically sound system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160520" cy="1536192"/>
          </a:xfrm>
          <a:prstGeom prst="rect">
            <a:avLst/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6304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Authority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" y="1956816"/>
            <a:ext cx="3858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CA simulation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Dilithium2 signing key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VCs on registration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1261872"/>
            <a:ext cx="4160520" cy="1536192"/>
          </a:xfrm>
          <a:prstGeom prst="rect">
            <a:avLst/>
          </a:prstGeom>
          <a:solidFill>
            <a:srgbClr val="15215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463040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6672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Authority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28032" y="1956816"/>
            <a:ext cx="3858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Kyber512 keypair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public key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Decrypts at tally only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74320" y="2999232"/>
            <a:ext cx="4160520" cy="1536192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200400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552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38912" y="3694176"/>
            <a:ext cx="3858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VC + Dilithium keys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with Kyber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with Dilithium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663440" y="2999232"/>
            <a:ext cx="4160520" cy="1536192"/>
          </a:xfrm>
          <a:prstGeom prst="rect">
            <a:avLst/>
          </a:prstGeom>
          <a:solidFill>
            <a:srgbClr val="15215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00400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76672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Board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828032" y="3694176"/>
            <a:ext cx="3858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append-only ledger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verification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chain hash audit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2331720" y="2798064"/>
            <a:ext cx="18288" cy="201168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463040" y="27797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VC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3200400" y="2331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 pub key →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434840" y="3749040"/>
            <a:ext cx="228600" cy="1828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560320" y="371246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&amp; encrypted ballot →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2560320" y="39319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Receipt (ballot_id + chain_hash)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other hackathon project is doing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03920" cy="402336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2801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e-voting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0" y="128016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82496"/>
            <a:ext cx="8503920" cy="457200"/>
          </a:xfrm>
          <a:prstGeom prst="rect">
            <a:avLst/>
          </a:prstGeom>
          <a:solidFill>
            <a:srgbClr val="0F1A38"/>
          </a:solidFill>
          <a:ln w="12700">
            <a:solidFill>
              <a:srgbClr val="152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824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algorithm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6824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/ ECDSA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168249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(Kyber512) — NIST 2024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57984"/>
            <a:ext cx="8503920" cy="457200"/>
          </a:xfrm>
          <a:prstGeom prst="rect">
            <a:avLst/>
          </a:prstGeom>
          <a:solidFill>
            <a:srgbClr val="152150"/>
          </a:solidFill>
          <a:ln w="12700">
            <a:solidFill>
              <a:srgbClr val="1521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579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algorithm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15798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/ ECDSA signatures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21579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ML-DSA (Dilithium2) — NIST 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633472"/>
            <a:ext cx="8503920" cy="457200"/>
          </a:xfrm>
          <a:prstGeom prst="rect">
            <a:avLst/>
          </a:prstGeom>
          <a:solidFill>
            <a:srgbClr val="0F1A38"/>
          </a:solidFill>
          <a:ln w="12700">
            <a:solidFill>
              <a:srgbClr val="1521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334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safe?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2633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Broken by Shor's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26334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Lattice-based, no known attack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8503920" cy="457200"/>
          </a:xfrm>
          <a:prstGeom prst="rect">
            <a:avLst/>
          </a:prstGeom>
          <a:solidFill>
            <a:srgbClr val="152150"/>
          </a:solidFill>
          <a:ln w="12700">
            <a:solidFill>
              <a:srgbClr val="1521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identity binding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Policy-based, not crypto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with ia_signature — math enforced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84448"/>
            <a:ext cx="8503920" cy="457200"/>
          </a:xfrm>
          <a:prstGeom prst="rect">
            <a:avLst/>
          </a:prstGeom>
          <a:solidFill>
            <a:srgbClr val="0F1A38"/>
          </a:solidFill>
          <a:ln w="12700">
            <a:solidFill>
              <a:srgbClr val="1521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84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Cross-state fraud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35844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— policy stops 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0" y="35844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impossible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59936"/>
            <a:ext cx="8503920" cy="457200"/>
          </a:xfrm>
          <a:prstGeom prst="rect">
            <a:avLst/>
          </a:prstGeom>
          <a:solidFill>
            <a:srgbClr val="152150"/>
          </a:solidFill>
          <a:ln w="12700">
            <a:solidFill>
              <a:srgbClr val="1521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59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Ballot auditability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40599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authority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40599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bulletin board + receipt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535424"/>
            <a:ext cx="8503920" cy="457200"/>
          </a:xfrm>
          <a:prstGeom prst="rect">
            <a:avLst/>
          </a:prstGeom>
          <a:solidFill>
            <a:srgbClr val="0F1A38"/>
          </a:solidFill>
          <a:ln w="12700">
            <a:solidFill>
              <a:srgbClr val="1521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infrastructure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0" y="45354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 proprietary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453542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CA simulation (1.4B scale)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16 — Strong institutions, democratic integrity at scale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43200" cy="1371600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5331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900M+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84048" y="2066544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eligible voters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architecture serves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261872"/>
            <a:ext cx="2743200" cy="1371600"/>
          </a:xfrm>
          <a:prstGeom prst="rect">
            <a:avLst/>
          </a:prstGeom>
          <a:solidFill>
            <a:srgbClr val="1521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35331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10128" y="2066544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NIST finalised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&amp; ML-DSA standards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261872"/>
            <a:ext cx="2743200" cy="1371600"/>
          </a:xfrm>
          <a:prstGeom prst="rect">
            <a:avLst/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35331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36208" y="2066544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quantum attacks on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lattice-based cryptography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78892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in the real world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8503920" cy="365760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00400"/>
            <a:ext cx="54864" cy="3657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55264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9808" y="3200400"/>
            <a:ext cx="7900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commissions in 50+ countries use RSA-based e-voting. Quantum computers will invalidate all of it by 2030 — our system is ready today.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3630168"/>
            <a:ext cx="8503920" cy="365760"/>
          </a:xfrm>
          <a:prstGeom prst="rect">
            <a:avLst/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3630168"/>
            <a:ext cx="54864" cy="365760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685032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9808" y="3630168"/>
            <a:ext cx="7900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Aadhaar-style VC binding makes cross-jurisdiction fraud mathematically impossible — directly applicable to India's 900M+ voter general elections.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74320" y="4059936"/>
            <a:ext cx="8503920" cy="365760"/>
          </a:xfrm>
          <a:prstGeom prst="rect">
            <a:avLst/>
          </a:prstGeom>
          <a:solidFill>
            <a:srgbClr val="1521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74320" y="4059936"/>
            <a:ext cx="54864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114800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49808" y="4059936"/>
            <a:ext cx="7900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bulletin board gives citizens direct ballot verification — no trust in a central authority required. Transparent democracy at the protocol level.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274320" y="4489704"/>
            <a:ext cx="8503920" cy="365760"/>
          </a:xfrm>
          <a:prstGeom prst="rect">
            <a:avLst/>
          </a:prstGeom>
          <a:solidFill>
            <a:srgbClr val="15215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74320" y="4489704"/>
            <a:ext cx="54864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544568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" y="4489704"/>
            <a:ext cx="7900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open-source, NIST-standard algorithms, vendor-agnostic stack. Any election commission can deploy without licensing fees or proprietary systems.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&amp; PROJECT 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documented, ready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26187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4023360" cy="3310128"/>
          </a:xfrm>
          <a:prstGeom prst="rect">
            <a:avLst/>
          </a:prstGeom>
          <a:solidFill>
            <a:srgbClr val="080F2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824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pq_voting/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ia/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" y="20482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keygen.py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223113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issue_vc.py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4140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election/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25968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keygen.py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3232" y="277977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tally.py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9626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voter/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" y="314553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encrypt.py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3232" y="33284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sign.py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5112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board/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3232" y="369417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verify.py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3232" y="38770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ledger.py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05993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api/  (FastAPI)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3232" y="42428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main.py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4256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ui/   (HTML/JS)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60857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README.md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126187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627632"/>
            <a:ext cx="4114800" cy="475488"/>
          </a:xfrm>
          <a:prstGeom prst="rect">
            <a:avLst/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627632"/>
            <a:ext cx="658368" cy="475488"/>
          </a:xfrm>
          <a:prstGeom prst="rect">
            <a:avLst/>
          </a:prstGeom>
          <a:solidFill>
            <a:srgbClr val="4B3FA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62763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16642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/register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94960" y="18836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VC for voter via Aadhaar-style IA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176272"/>
            <a:ext cx="4114800" cy="475488"/>
          </a:xfrm>
          <a:prstGeom prst="rect">
            <a:avLst/>
          </a:prstGeom>
          <a:solidFill>
            <a:srgbClr val="152150"/>
          </a:solidFill>
          <a:ln w="12700">
            <a:solidFill>
              <a:srgbClr val="8FA0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176272"/>
            <a:ext cx="658368" cy="475488"/>
          </a:xfrm>
          <a:prstGeom prst="rect">
            <a:avLst/>
          </a:prstGeom>
          <a:solidFill>
            <a:srgbClr val="8FA0C0"/>
          </a:solidFill>
          <a:ln w="12700">
            <a:solidFill>
              <a:srgbClr val="8FA0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17627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4960" y="221284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/election/pk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94960" y="243230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Kyber512 election public key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724912"/>
            <a:ext cx="4114800" cy="475488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724912"/>
            <a:ext cx="658368" cy="47548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72491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94960" y="276148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/vote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94960" y="298094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encrypted + signed ballot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273552"/>
            <a:ext cx="4114800" cy="475488"/>
          </a:xfrm>
          <a:prstGeom prst="rect">
            <a:avLst/>
          </a:prstGeom>
          <a:solidFill>
            <a:srgbClr val="15215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273552"/>
            <a:ext cx="658368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27355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331012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/board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94960" y="352958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append-only public ledger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822192"/>
            <a:ext cx="4114800" cy="475488"/>
          </a:xfrm>
          <a:prstGeom prst="rect">
            <a:avLst/>
          </a:prstGeom>
          <a:solidFill>
            <a:srgbClr val="1521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3822192"/>
            <a:ext cx="65836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82219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94960" y="38587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/tally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394960" y="407822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&amp; count (authority only, post-close)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4370832"/>
            <a:ext cx="4114800" cy="475488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4370832"/>
            <a:ext cx="658368" cy="47548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437083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94960" y="44074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/verify/{id}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394960" y="46268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verifies their ballot inclusion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— FULL TRANSPARENCY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 we haven't solved — and the production path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16736"/>
            <a:ext cx="8503920" cy="786384"/>
          </a:xfrm>
          <a:prstGeom prst="rect">
            <a:avLst/>
          </a:prstGeom>
          <a:solidFill>
            <a:srgbClr val="1521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16736"/>
            <a:ext cx="64008" cy="7863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90688" y="1463040"/>
            <a:ext cx="914400" cy="237744"/>
          </a:xfrm>
          <a:prstGeom prst="rect">
            <a:avLst/>
          </a:prstGeom>
          <a:solidFill>
            <a:srgbClr val="0A143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90688" y="14630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ZK ballot well-formedness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 Malformed ballot detected only at decrypt time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865376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path:  ZK-SNARKs / Bulletproofs — prove choice valid without revealing 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8503920" cy="786384"/>
          </a:xfrm>
          <a:prstGeom prst="rect">
            <a:avLst/>
          </a:prstGeom>
          <a:solidFill>
            <a:srgbClr val="1521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12848"/>
            <a:ext cx="64008" cy="7863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90688" y="2359152"/>
            <a:ext cx="914400" cy="237744"/>
          </a:xfrm>
          <a:prstGeom prst="rect">
            <a:avLst/>
          </a:prstGeom>
          <a:solidFill>
            <a:srgbClr val="0A143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235915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tally key (1-of-1)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 EA holds one Kyber secret key — API enforcement only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76148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path:  Threshold cryptography — M-of-N trustees must cooperate to tally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8503920" cy="786384"/>
          </a:xfrm>
          <a:prstGeom prst="rect">
            <a:avLst/>
          </a:prstGeom>
          <a:solidFill>
            <a:srgbClr val="152150"/>
          </a:solidFill>
          <a:ln w="12700">
            <a:solidFill>
              <a:srgbClr val="8FA0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08960"/>
            <a:ext cx="64008" cy="786384"/>
          </a:xfrm>
          <a:prstGeom prst="rect">
            <a:avLst/>
          </a:prstGeom>
          <a:solidFill>
            <a:srgbClr val="8FA0C0"/>
          </a:solidFill>
          <a:ln w="12700">
            <a:solidFill>
              <a:srgbClr val="8FA0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90688" y="3255264"/>
            <a:ext cx="914400" cy="237744"/>
          </a:xfrm>
          <a:prstGeom prst="rect">
            <a:avLst/>
          </a:prstGeom>
          <a:solidFill>
            <a:srgbClr val="0A1430"/>
          </a:solidFill>
          <a:ln w="12700">
            <a:solidFill>
              <a:srgbClr val="8FA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0688" y="32552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ONLY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318211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biometric hash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45643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 SHA3-256(name|dob|aadhaar) — no live biometric scanner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path:  Certified biometric enrollment with liveness detection (UIDAI API)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005072"/>
            <a:ext cx="8503920" cy="786384"/>
          </a:xfrm>
          <a:prstGeom prst="rect">
            <a:avLst/>
          </a:prstGeom>
          <a:solidFill>
            <a:srgbClr val="1521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005072"/>
            <a:ext cx="64008" cy="7863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90688" y="4151376"/>
            <a:ext cx="914400" cy="237744"/>
          </a:xfrm>
          <a:prstGeom prst="rect">
            <a:avLst/>
          </a:prstGeom>
          <a:solidFill>
            <a:srgbClr val="0A143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0688" y="415137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407822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voter_id visible on ledger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35254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 Pseudonymous but linkable if voter reveals ballot_id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55371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path:  Mix-nets or blind signatures would break the link entirely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5120640" y="18288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347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0" y="749808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it.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works.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quantum-safe.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11480" y="2724912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Aadhaar-style IA issues cryptographically bound voter credentials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3072384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ML-KEM + ML-DSA replace RSA/ECDSA — NIST FIPS 2024 standard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3419856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End-to-end verifiable — every voter can audit their own vote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3767328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Cross-state fraud is mathematically impossible — not policy-restricted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4114800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working codebase on GitHub — demo live right now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4645152"/>
            <a:ext cx="2011680" cy="347472"/>
          </a:xfrm>
          <a:prstGeom prst="rect">
            <a:avLst/>
          </a:prstGeom>
          <a:solidFill>
            <a:srgbClr val="152150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645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(Kyber512)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560320" y="4645152"/>
            <a:ext cx="2011680" cy="347472"/>
          </a:xfrm>
          <a:prstGeom prst="rect">
            <a:avLst/>
          </a:prstGeom>
          <a:solidFill>
            <a:srgbClr val="152150"/>
          </a:solidFill>
          <a:ln w="12700">
            <a:solidFill>
              <a:srgbClr val="4B3F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4645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ML-DSA (Dilithium2)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709160" y="4645152"/>
            <a:ext cx="2011680" cy="347472"/>
          </a:xfrm>
          <a:prstGeom prst="rect">
            <a:avLst/>
          </a:prstGeom>
          <a:solidFill>
            <a:srgbClr val="1521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4645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16 — Peace &amp; Justice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858000" y="4645152"/>
            <a:ext cx="2011680" cy="347472"/>
          </a:xfrm>
          <a:prstGeom prst="rect">
            <a:avLst/>
          </a:prstGeom>
          <a:solidFill>
            <a:srgbClr val="15215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4645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Ready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Post-Quantum Secure Voting System — Phase 2</dc:title>
  <dc:subject>PptxGenJS Presentation</dc:subject>
  <dc:creator>PptxGenJS</dc:creator>
  <cp:lastModifiedBy>PptxGenJS</cp:lastModifiedBy>
  <cp:revision>1</cp:revision>
  <dcterms:created xsi:type="dcterms:W3CDTF">2026-05-23T12:37:04Z</dcterms:created>
  <dcterms:modified xsi:type="dcterms:W3CDTF">2026-05-23T12:37:04Z</dcterms:modified>
</cp:coreProperties>
</file>